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  <p:sldMasterId id="2147483667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8" r:id="rId7"/>
    <p:sldId id="260" r:id="rId8"/>
    <p:sldId id="261" r:id="rId9"/>
    <p:sldId id="269" r:id="rId10"/>
    <p:sldId id="270" r:id="rId11"/>
    <p:sldId id="262" r:id="rId12"/>
    <p:sldId id="263" r:id="rId13"/>
    <p:sldId id="264" r:id="rId14"/>
    <p:sldId id="271" r:id="rId15"/>
    <p:sldId id="265" r:id="rId16"/>
    <p:sldId id="266" r:id="rId17"/>
    <p:sldId id="267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95F3DF-6B32-4EAD-A222-E1AB77C3E94A}">
  <a:tblStyle styleId="{1195F3DF-6B32-4EAD-A222-E1AB77C3E9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6174d348_5_5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02" name="Google Shape;102;g3f56174d348_5_5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3" name="Google Shape;103;g3f56174d348_5_5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f56174d348_5_5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05" name="Google Shape;105;g3f56174d348_5_5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06" name="Google Shape;106;g3f56174d348_5_5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6174d348_5_6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18" name="Google Shape;118;g3f56174d348_5_6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9" name="Google Shape;119;g3f56174d348_5_6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f56174d348_5_6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21" name="Google Shape;121;g3f56174d348_5_6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22" name="Google Shape;122;g3f56174d348_5_6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6174d348_5_7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30" name="Google Shape;130;g3f56174d348_5_7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1" name="Google Shape;131;g3f56174d348_5_7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f56174d348_5_7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2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33" name="Google Shape;133;g3f56174d348_5_7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34" name="Google Shape;134;g3f56174d348_5_7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6174d348_5_8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41" name="Google Shape;141;g3f56174d348_5_8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2" name="Google Shape;142;g3f56174d348_5_8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f56174d348_5_8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44" name="Google Shape;144;g3f56174d348_5_8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45" name="Google Shape;145;g3f56174d348_5_8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4EDC23D2-1F6F-53AA-B919-AD4E6503B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6174d348_5_87:notes">
            <a:extLst>
              <a:ext uri="{FF2B5EF4-FFF2-40B4-BE49-F238E27FC236}">
                <a16:creationId xmlns:a16="http://schemas.microsoft.com/office/drawing/2014/main" id="{30210980-641E-C533-C153-FD80F6BD1AA2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41" name="Google Shape;141;g3f56174d348_5_87:notes">
            <a:extLst>
              <a:ext uri="{FF2B5EF4-FFF2-40B4-BE49-F238E27FC236}">
                <a16:creationId xmlns:a16="http://schemas.microsoft.com/office/drawing/2014/main" id="{D8BB89C0-BF3B-FC2F-9B40-99EE5FCAF1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2" name="Google Shape;142;g3f56174d348_5_87:notes">
            <a:extLst>
              <a:ext uri="{FF2B5EF4-FFF2-40B4-BE49-F238E27FC236}">
                <a16:creationId xmlns:a16="http://schemas.microsoft.com/office/drawing/2014/main" id="{0682DBF5-0526-E011-581C-F21FAE820F4C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f56174d348_5_87:notes">
            <a:extLst>
              <a:ext uri="{FF2B5EF4-FFF2-40B4-BE49-F238E27FC236}">
                <a16:creationId xmlns:a16="http://schemas.microsoft.com/office/drawing/2014/main" id="{A9D7A493-3CAE-B0DB-01F1-77BC2823E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44" name="Google Shape;144;g3f56174d348_5_87:notes">
            <a:extLst>
              <a:ext uri="{FF2B5EF4-FFF2-40B4-BE49-F238E27FC236}">
                <a16:creationId xmlns:a16="http://schemas.microsoft.com/office/drawing/2014/main" id="{19F1C055-143E-F321-33B6-1EFAB54609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45" name="Google Shape;145;g3f56174d348_5_87:notes">
            <a:extLst>
              <a:ext uri="{FF2B5EF4-FFF2-40B4-BE49-F238E27FC236}">
                <a16:creationId xmlns:a16="http://schemas.microsoft.com/office/drawing/2014/main" id="{7F26B578-5A35-0773-A3AC-A81DEBB86C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2354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56174d348_5_9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53" name="Google Shape;153;g3f56174d348_5_9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4" name="Google Shape;154;g3f56174d348_5_9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f56174d348_5_9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56" name="Google Shape;156;g3f56174d348_5_9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57" name="Google Shape;157;g3f56174d348_5_9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6174d348_5_1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5" name="Google Shape;165;g3f56174d348_5_110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f56174d348_5_1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f56174d348_5_1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68" name="Google Shape;168;g3f56174d348_5_110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9" name="Google Shape;169;g3f56174d348_5_110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E24BD9A8-BBE0-01A7-58AF-93727348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6174d348_5_110:notes">
            <a:extLst>
              <a:ext uri="{FF2B5EF4-FFF2-40B4-BE49-F238E27FC236}">
                <a16:creationId xmlns:a16="http://schemas.microsoft.com/office/drawing/2014/main" id="{FD69E935-1B00-2F3A-8B25-FC4103BBB2C9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5" name="Google Shape;165;g3f56174d348_5_110:notes">
            <a:extLst>
              <a:ext uri="{FF2B5EF4-FFF2-40B4-BE49-F238E27FC236}">
                <a16:creationId xmlns:a16="http://schemas.microsoft.com/office/drawing/2014/main" id="{3334DB21-1593-6DC1-9569-98B736A3CB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f56174d348_5_110:notes">
            <a:extLst>
              <a:ext uri="{FF2B5EF4-FFF2-40B4-BE49-F238E27FC236}">
                <a16:creationId xmlns:a16="http://schemas.microsoft.com/office/drawing/2014/main" id="{2B6C4995-D7B7-7D84-E6B7-468766CB1528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f56174d348_5_110:notes">
            <a:extLst>
              <a:ext uri="{FF2B5EF4-FFF2-40B4-BE49-F238E27FC236}">
                <a16:creationId xmlns:a16="http://schemas.microsoft.com/office/drawing/2014/main" id="{755D9609-29EC-3FE5-990E-89DE3A5035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68" name="Google Shape;168;g3f56174d348_5_110:notes">
            <a:extLst>
              <a:ext uri="{FF2B5EF4-FFF2-40B4-BE49-F238E27FC236}">
                <a16:creationId xmlns:a16="http://schemas.microsoft.com/office/drawing/2014/main" id="{EF5FDE4E-0F54-3E99-09E4-8F7EF0B59E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9" name="Google Shape;169;g3f56174d348_5_110:notes">
            <a:extLst>
              <a:ext uri="{FF2B5EF4-FFF2-40B4-BE49-F238E27FC236}">
                <a16:creationId xmlns:a16="http://schemas.microsoft.com/office/drawing/2014/main" id="{45FF3BA2-54B7-516E-354A-2B4F1F4A3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9278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EFCDB674-57D0-E1ED-A325-8CAF364F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6174d348_5_110:notes">
            <a:extLst>
              <a:ext uri="{FF2B5EF4-FFF2-40B4-BE49-F238E27FC236}">
                <a16:creationId xmlns:a16="http://schemas.microsoft.com/office/drawing/2014/main" id="{0CE3EB57-7CF9-BA4F-D834-F8365AF7A677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5" name="Google Shape;165;g3f56174d348_5_110:notes">
            <a:extLst>
              <a:ext uri="{FF2B5EF4-FFF2-40B4-BE49-F238E27FC236}">
                <a16:creationId xmlns:a16="http://schemas.microsoft.com/office/drawing/2014/main" id="{D4E7B5E2-2B44-F6ED-2714-67B451A00E2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f56174d348_5_110:notes">
            <a:extLst>
              <a:ext uri="{FF2B5EF4-FFF2-40B4-BE49-F238E27FC236}">
                <a16:creationId xmlns:a16="http://schemas.microsoft.com/office/drawing/2014/main" id="{D67D42E3-A3F5-33C0-B6AF-3E1241FE000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f56174d348_5_110:notes">
            <a:extLst>
              <a:ext uri="{FF2B5EF4-FFF2-40B4-BE49-F238E27FC236}">
                <a16:creationId xmlns:a16="http://schemas.microsoft.com/office/drawing/2014/main" id="{218CF34D-43F9-9883-72EF-4ED6A0F83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68" name="Google Shape;168;g3f56174d348_5_110:notes">
            <a:extLst>
              <a:ext uri="{FF2B5EF4-FFF2-40B4-BE49-F238E27FC236}">
                <a16:creationId xmlns:a16="http://schemas.microsoft.com/office/drawing/2014/main" id="{0FE9859A-5C47-2023-D0C9-E0499F2120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69" name="Google Shape;169;g3f56174d348_5_110:notes">
            <a:extLst>
              <a:ext uri="{FF2B5EF4-FFF2-40B4-BE49-F238E27FC236}">
                <a16:creationId xmlns:a16="http://schemas.microsoft.com/office/drawing/2014/main" id="{CDBDF792-841E-D909-79DE-F5356F85F4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2088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6174d348_5_12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77" name="Google Shape;177;g3f56174d348_5_12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8" name="Google Shape;178;g3f56174d348_5_12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f56174d348_5_12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5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80" name="Google Shape;180;g3f56174d348_5_12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81" name="Google Shape;181;g3f56174d348_5_12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56174d348_5_13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88" name="Google Shape;188;g3f56174d348_5_13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9" name="Google Shape;189;g3f56174d348_5_13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56174d348_5_13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191" name="Google Shape;191;g3f56174d348_5_13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192" name="Google Shape;192;g3f56174d348_5_13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6174d348_5_14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00" name="Google Shape;200;g3f56174d348_5_14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1" name="Google Shape;201;g3f56174d348_5_14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f56174d348_5_14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203" name="Google Shape;203;g3f56174d348_5_14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04" name="Google Shape;204;g3f56174d348_5_14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513D3423-C392-3A65-C22C-3DAB7BB0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6174d348_5_142:notes">
            <a:extLst>
              <a:ext uri="{FF2B5EF4-FFF2-40B4-BE49-F238E27FC236}">
                <a16:creationId xmlns:a16="http://schemas.microsoft.com/office/drawing/2014/main" id="{55443534-1CE1-5A86-8531-A05EB7FA8F51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00" name="Google Shape;200;g3f56174d348_5_142:notes">
            <a:extLst>
              <a:ext uri="{FF2B5EF4-FFF2-40B4-BE49-F238E27FC236}">
                <a16:creationId xmlns:a16="http://schemas.microsoft.com/office/drawing/2014/main" id="{F851DC10-BC53-00F2-0230-593AC6EB77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1" name="Google Shape;201;g3f56174d348_5_142:notes">
            <a:extLst>
              <a:ext uri="{FF2B5EF4-FFF2-40B4-BE49-F238E27FC236}">
                <a16:creationId xmlns:a16="http://schemas.microsoft.com/office/drawing/2014/main" id="{4DF470CF-E4D6-0781-C0FD-491BB5DEA76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f56174d348_5_142:notes">
            <a:extLst>
              <a:ext uri="{FF2B5EF4-FFF2-40B4-BE49-F238E27FC236}">
                <a16:creationId xmlns:a16="http://schemas.microsoft.com/office/drawing/2014/main" id="{A1A994E5-ADAE-29F2-EA9C-78E794126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203" name="Google Shape;203;g3f56174d348_5_142:notes">
            <a:extLst>
              <a:ext uri="{FF2B5EF4-FFF2-40B4-BE49-F238E27FC236}">
                <a16:creationId xmlns:a16="http://schemas.microsoft.com/office/drawing/2014/main" id="{326EE15C-44AB-0EF1-FE43-89F52859AF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04" name="Google Shape;204;g3f56174d348_5_142:notes">
            <a:extLst>
              <a:ext uri="{FF2B5EF4-FFF2-40B4-BE49-F238E27FC236}">
                <a16:creationId xmlns:a16="http://schemas.microsoft.com/office/drawing/2014/main" id="{391FCFC1-3D84-10E5-CCA3-6D124B33A2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6558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6174d348_5_15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12" name="Google Shape;212;g3f56174d348_5_15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3" name="Google Shape;213;g3f56174d348_5_15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f56174d348_5_15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215" name="Google Shape;215;g3f56174d348_5_15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16" name="Google Shape;216;g3f56174d348_5_15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56174d348_5_16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24" name="Google Shape;224;g3f56174d348_5_16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5" name="Google Shape;225;g3f56174d348_5_16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f56174d348_5_16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227" name="Google Shape;227;g3f56174d348_5_16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28" name="Google Shape;228;g3f56174d348_5_16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6174d348_5_17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36" name="Google Shape;236;g3f56174d348_5_17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7" name="Google Shape;237;g3f56174d348_5_17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f56174d348_5_17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9/11/2024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3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1-59</a:t>
            </a:r>
            <a:endParaRPr/>
          </a:p>
        </p:txBody>
      </p:sp>
      <p:sp>
        <p:nvSpPr>
          <p:cNvPr id="239" name="Google Shape;239;g3f56174d348_5_17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</p:txBody>
      </p:sp>
      <p:sp>
        <p:nvSpPr>
          <p:cNvPr id="240" name="Google Shape;240;g3f56174d348_5_17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28625" y="193105"/>
            <a:ext cx="7715250" cy="80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28625" y="191988"/>
            <a:ext cx="2820293" cy="81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sz="17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351609" y="191988"/>
            <a:ext cx="4792266" cy="411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  <a:defRPr sz="1700"/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»"/>
              <a:defRPr sz="1700"/>
            </a:lvl5pPr>
            <a:lvl6pPr marL="2743200" lvl="5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marL="3200400" lvl="6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marL="3657600" lvl="7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marL="4114800" lvl="8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28625" y="1009055"/>
            <a:ext cx="2820293" cy="329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680270" y="3375422"/>
            <a:ext cx="5143500" cy="3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  <a:defRPr sz="17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>
            <a:spLocks noGrp="1"/>
          </p:cNvSpPr>
          <p:nvPr>
            <p:ph type="pic" idx="2"/>
          </p:nvPr>
        </p:nvSpPr>
        <p:spPr>
          <a:xfrm>
            <a:off x="1680270" y="430857"/>
            <a:ext cx="5143500" cy="2893219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1680270" y="3773910"/>
            <a:ext cx="5143500" cy="5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428625" y="193105"/>
            <a:ext cx="7715250" cy="80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 rot="5400000">
            <a:off x="2695092" y="-1141325"/>
            <a:ext cx="3182318" cy="771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 rot="5400000">
            <a:off x="5122292" y="1285876"/>
            <a:ext cx="4114354" cy="192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 rot="5400000">
            <a:off x="1193230" y="-571500"/>
            <a:ext cx="4114354" cy="564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28625" y="193105"/>
            <a:ext cx="7715250" cy="80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28625" y="1125141"/>
            <a:ext cx="7715250" cy="318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»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28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2928938" y="4469309"/>
            <a:ext cx="2714625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143625" y="4469309"/>
            <a:ext cx="2000250" cy="25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 descr="klogo copy.png"/>
          <p:cNvSpPr/>
          <p:nvPr/>
        </p:nvSpPr>
        <p:spPr>
          <a:xfrm>
            <a:off x="1178872" y="1411909"/>
            <a:ext cx="1728191" cy="1113090"/>
          </a:xfrm>
          <a:custGeom>
            <a:avLst/>
            <a:gdLst/>
            <a:ahLst/>
            <a:cxnLst/>
            <a:rect l="l" t="t" r="r" b="b"/>
            <a:pathLst>
              <a:path w="1954530" h="1517269" extrusionOk="0">
                <a:moveTo>
                  <a:pt x="0" y="0"/>
                </a:moveTo>
                <a:lnTo>
                  <a:pt x="1954530" y="0"/>
                </a:lnTo>
                <a:lnTo>
                  <a:pt x="1954530" y="1517269"/>
                </a:lnTo>
                <a:lnTo>
                  <a:pt x="0" y="1517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4" r="1" b="-31"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/>
        </p:nvSpPr>
        <p:spPr>
          <a:xfrm>
            <a:off x="3577605" y="126976"/>
            <a:ext cx="4763543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PERUNDURAI, ERODE - 638060</a:t>
            </a: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2945050" y="1623950"/>
            <a:ext cx="6199200" cy="72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lvl="0" algn="ctr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Enhanced Hybrid CNN–Transformer Model for Brain </a:t>
            </a:r>
            <a:r>
              <a:rPr lang="en-IN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Using </a:t>
            </a:r>
            <a:r>
              <a:rPr lang="en-IN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BraTS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</a:t>
            </a:r>
            <a:endParaRPr sz="21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227693" y="1296655"/>
            <a:ext cx="5595676" cy="281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7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3735424" y="3267317"/>
            <a:ext cx="304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735430" y="3665667"/>
            <a:ext cx="4804500" cy="10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HARSHINI C R</a:t>
            </a:r>
            <a:r>
              <a:rPr lang="en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23CSR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081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KAYADARSHINI M</a:t>
            </a:r>
            <a:r>
              <a:rPr lang="en" sz="1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23CSR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108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KISHORE SANKAR   G        23CSR116</a:t>
            </a:r>
            <a:endParaRPr sz="15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 descr="Kongu Engineering College - Services Port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490" y="246023"/>
            <a:ext cx="1469073" cy="449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0" y="-93525"/>
            <a:ext cx="9144000" cy="5138928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1017396" y="447304"/>
            <a:ext cx="7291336" cy="45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 rot="10800000" flipH="1">
            <a:off x="564904" y="1533274"/>
            <a:ext cx="7960494" cy="3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890340" y="1183058"/>
            <a:ext cx="7635178" cy="2109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Brain tumors are among the most life-threatening diseases. Accurate segmentation of tumors from MRI images is essential for: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diagnosis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planning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Surgery assistance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monitoring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Tumors vary in size and shape.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MRI images contain noise and low contrast.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segmentation is time-consuming.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depend on radiologist expertise.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Hence, an automatic and accurate brain tumor segmentation system is required.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1017396" y="447304"/>
            <a:ext cx="729133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115122" y="1195239"/>
            <a:ext cx="7407831" cy="5030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▪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brain tumors from MRI images using deep learning techniques.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▪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 the BraTS2020 dataset for model training and testing.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U-Net++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for brain tumor segmentation.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SwinUNETR</a:t>
            </a: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for brain tumor segmentation.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Symbols"/>
              <a:buChar char="▪"/>
            </a:pPr>
            <a:r>
              <a:rPr lang="en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the performance of both models using evaluation metrics as </a:t>
            </a:r>
            <a:r>
              <a:rPr lang="en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Dice Score.</a:t>
            </a:r>
          </a:p>
          <a:p>
            <a:pPr marL="457200" indent="-361950">
              <a:lnSpc>
                <a:spcPct val="200000"/>
              </a:lnSpc>
              <a:buSzPts val="2100"/>
              <a:buFont typeface="Noto Sans Symbols"/>
              <a:buChar char="▪"/>
            </a:pPr>
            <a:r>
              <a:rPr lang="en-US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 radiologists by providing accurate and automated brain tumor segmentation for better diagnosis and treatment planning.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7021285" y="4538833"/>
            <a:ext cx="1581831" cy="3138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1017396" y="447304"/>
            <a:ext cx="7291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F22E4A-50C2-95DB-819B-9FD145F04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55236"/>
              </p:ext>
            </p:extLst>
          </p:nvPr>
        </p:nvGraphicFramePr>
        <p:xfrm>
          <a:off x="753327" y="1113676"/>
          <a:ext cx="8128000" cy="3933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9991571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244797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003379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62887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1917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 dirty="0" err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Algorithm / Model Used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Achieved Dice Score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Implementation / Key Contribution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0390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Brain </a:t>
                      </a:r>
                      <a:r>
                        <a:rPr lang="en-IN" sz="1100" dirty="0" err="1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 Segmentation with Contextual Transformer-Based U-Net (CT-</a:t>
                      </a:r>
                      <a:r>
                        <a:rPr lang="en-IN" sz="1100" dirty="0" err="1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UNet</a:t>
                      </a: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) (Base Paper, 2026)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Contextual Transformer + U-Net + Dynamic Modality Fusion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Integrated Transformer blocks into U-Net with dynamic modality fusion for accurate multimodal brain tumor segmentation.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371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TransUNetB: An Advanced Transformer–UNet Framework for Efficient and Explainable Brain Tumor Segmentation (2025)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CNN + Transformer (</a:t>
                      </a:r>
                      <a:r>
                        <a:rPr lang="en-IN" sz="1100" dirty="0" err="1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TransUNetB</a:t>
                      </a: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0.87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Combined CNN feature extraction with Transformer attention to improve segmentation accuracy and explainability.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9788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MWG-UNet++: Hybrid Transformer U-Net Model for Brain Tumor Segmentation (2025)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U-Net++ + Transformer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Enhanced U-Net++ using Transformer blocks to improve multi-scale feature learning for MRI segmentation.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0484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CF3462F-17BA-07EA-9D09-3A7F2D29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>
            <a:extLst>
              <a:ext uri="{FF2B5EF4-FFF2-40B4-BE49-F238E27FC236}">
                <a16:creationId xmlns:a16="http://schemas.microsoft.com/office/drawing/2014/main" id="{064AA397-B742-FFE7-7C73-B90F9DED0CFD}"/>
              </a:ext>
            </a:extLst>
          </p:cNvPr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>
            <a:extLst>
              <a:ext uri="{FF2B5EF4-FFF2-40B4-BE49-F238E27FC236}">
                <a16:creationId xmlns:a16="http://schemas.microsoft.com/office/drawing/2014/main" id="{6006965C-6872-11D3-2063-FD2E69184F5A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>
            <a:extLst>
              <a:ext uri="{FF2B5EF4-FFF2-40B4-BE49-F238E27FC236}">
                <a16:creationId xmlns:a16="http://schemas.microsoft.com/office/drawing/2014/main" id="{8F1AAFB4-9823-9801-AA2E-DB3DB919B30F}"/>
              </a:ext>
            </a:extLst>
          </p:cNvPr>
          <p:cNvSpPr/>
          <p:nvPr/>
        </p:nvSpPr>
        <p:spPr>
          <a:xfrm>
            <a:off x="7021285" y="4538833"/>
            <a:ext cx="1581831" cy="3138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6FA646-7C82-0D5C-EF30-664BCE858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009606"/>
              </p:ext>
            </p:extLst>
          </p:nvPr>
        </p:nvGraphicFramePr>
        <p:xfrm>
          <a:off x="745892" y="842290"/>
          <a:ext cx="8160215" cy="364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043">
                  <a:extLst>
                    <a:ext uri="{9D8B030D-6E8A-4147-A177-3AD203B41FA5}">
                      <a16:colId xmlns:a16="http://schemas.microsoft.com/office/drawing/2014/main" val="4090700523"/>
                    </a:ext>
                  </a:extLst>
                </a:gridCol>
                <a:gridCol w="1632043">
                  <a:extLst>
                    <a:ext uri="{9D8B030D-6E8A-4147-A177-3AD203B41FA5}">
                      <a16:colId xmlns:a16="http://schemas.microsoft.com/office/drawing/2014/main" val="1564992440"/>
                    </a:ext>
                  </a:extLst>
                </a:gridCol>
                <a:gridCol w="1632043">
                  <a:extLst>
                    <a:ext uri="{9D8B030D-6E8A-4147-A177-3AD203B41FA5}">
                      <a16:colId xmlns:a16="http://schemas.microsoft.com/office/drawing/2014/main" val="2810200027"/>
                    </a:ext>
                  </a:extLst>
                </a:gridCol>
                <a:gridCol w="1632043">
                  <a:extLst>
                    <a:ext uri="{9D8B030D-6E8A-4147-A177-3AD203B41FA5}">
                      <a16:colId xmlns:a16="http://schemas.microsoft.com/office/drawing/2014/main" val="884145080"/>
                    </a:ext>
                  </a:extLst>
                </a:gridCol>
                <a:gridCol w="1632043">
                  <a:extLst>
                    <a:ext uri="{9D8B030D-6E8A-4147-A177-3AD203B41FA5}">
                      <a16:colId xmlns:a16="http://schemas.microsoft.com/office/drawing/2014/main" val="4003590246"/>
                    </a:ext>
                  </a:extLst>
                </a:gridCol>
              </a:tblGrid>
              <a:tr h="614665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 dirty="0" err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Algorithm / Model Used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Achieved Dice Score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b="1" dirty="0">
                          <a:solidFill>
                            <a:srgbClr val="FFFFFF"/>
                          </a:solidFill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Implementation / Key Contribution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ＭＳ 明朝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901676646"/>
                  </a:ext>
                </a:extLst>
              </a:tr>
              <a:tr h="1384596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Hybrid Vision </a:t>
                      </a:r>
                      <a:r>
                        <a:rPr lang="en-IN" sz="1100" dirty="0" err="1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UNet</a:t>
                      </a: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 Architecture for Brain </a:t>
                      </a:r>
                      <a:r>
                        <a:rPr lang="en-IN" sz="1100" dirty="0" err="1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 Segmentation and Classification (2025)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Hybrid Vision Transformer + U-Net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Combined Vision Transformer with U-Net architecture for improved segmentation and tumor classification.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9851605"/>
                  </a:ext>
                </a:extLst>
              </a:tr>
              <a:tr h="1641239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Swin UNETR: Swin Transformers for Semantic Segmentation of Brain Tumors in MRI Images (2021)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Swin Transformer + U-Net Encoder-Decoder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ＭＳ 明朝" panose="02020609040205080304" pitchFamily="49" charset="-128"/>
                          <a:cs typeface="Times New Roman" panose="02020603050405020304" pitchFamily="18" charset="0"/>
                        </a:rPr>
                        <a:t>Introduced hierarchical Swin Transformer blocks for capturing both local and global contextual information in 3D MRI segmentation.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2441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16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457200" y="528638"/>
            <a:ext cx="8229600" cy="857250"/>
          </a:xfrm>
          <a:custGeom>
            <a:avLst/>
            <a:gdLst/>
            <a:ahLst/>
            <a:cxnLst/>
            <a:rect l="l" t="t" r="r" b="b"/>
            <a:pathLst>
              <a:path w="11704320" h="1625600" extrusionOk="0">
                <a:moveTo>
                  <a:pt x="0" y="0"/>
                </a:moveTo>
                <a:lnTo>
                  <a:pt x="11704320" y="0"/>
                </a:lnTo>
                <a:lnTo>
                  <a:pt x="11704320" y="1625600"/>
                </a:lnTo>
                <a:lnTo>
                  <a:pt x="0" y="16256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319264" y="188862"/>
            <a:ext cx="7291336" cy="84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 IDENTIFIED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1010245" y="661639"/>
            <a:ext cx="8022243" cy="398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lnSpc>
                <a:spcPct val="150000"/>
              </a:lnSpc>
            </a:pP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 capture only local features.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models require high computational resources and longer training time.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models have limitations in segmentation accuracy.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methods do not effectively combine CNN and Transformer strengths.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Gap</a:t>
            </a:r>
          </a:p>
          <a:p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CNN–Transformer Model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feature extraction.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</a:t>
            </a:r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global contextual learning.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accuracy (Dice Score).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robust and precise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boundary segmentation.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endParaRPr lang="en-US"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785813" y="340557"/>
            <a:ext cx="8358188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1337072" y="1279624"/>
            <a:ext cx="7082433" cy="336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7DCB4-0354-84F0-6337-801CE1CF9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70" y="1134742"/>
            <a:ext cx="8497229" cy="3932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3F537A5-9B4D-9F14-8927-9173B5AE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>
            <a:extLst>
              <a:ext uri="{FF2B5EF4-FFF2-40B4-BE49-F238E27FC236}">
                <a16:creationId xmlns:a16="http://schemas.microsoft.com/office/drawing/2014/main" id="{FBCEC23F-B6DA-A183-2637-26E467F0F98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>
            <a:extLst>
              <a:ext uri="{FF2B5EF4-FFF2-40B4-BE49-F238E27FC236}">
                <a16:creationId xmlns:a16="http://schemas.microsoft.com/office/drawing/2014/main" id="{6EDC4AA0-89E4-4EEC-1340-92FFEC92B0A8}"/>
              </a:ext>
            </a:extLst>
          </p:cNvPr>
          <p:cNvSpPr txBox="1"/>
          <p:nvPr/>
        </p:nvSpPr>
        <p:spPr>
          <a:xfrm>
            <a:off x="785813" y="340557"/>
            <a:ext cx="8358188" cy="55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UNET++ ARCHITECTURE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>
            <a:extLst>
              <a:ext uri="{FF2B5EF4-FFF2-40B4-BE49-F238E27FC236}">
                <a16:creationId xmlns:a16="http://schemas.microsoft.com/office/drawing/2014/main" id="{797737BC-AECB-807D-BE4C-1548E30A60E1}"/>
              </a:ext>
            </a:extLst>
          </p:cNvPr>
          <p:cNvSpPr/>
          <p:nvPr/>
        </p:nvSpPr>
        <p:spPr>
          <a:xfrm>
            <a:off x="1337072" y="1279624"/>
            <a:ext cx="7082433" cy="336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34EBC3-37A9-C1B0-6B41-A7D321A4C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12" y="1279624"/>
            <a:ext cx="4460487" cy="37879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F41670-D227-70CA-A73A-E9EE2D2A93F0}"/>
              </a:ext>
            </a:extLst>
          </p:cNvPr>
          <p:cNvSpPr txBox="1"/>
          <p:nvPr/>
        </p:nvSpPr>
        <p:spPr>
          <a:xfrm>
            <a:off x="724495" y="1237485"/>
            <a:ext cx="3669085" cy="385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Receives MRI brain images from the BraTS2020 dataset.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Extracts local image features using convolution and max-pooling layers.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Skip Connections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encoder and decoder to preserve detailed spatial information.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Reconstructs the feature maps into the original image resolution.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the segmented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mask.</a:t>
            </a:r>
          </a:p>
        </p:txBody>
      </p:sp>
    </p:spTree>
    <p:extLst>
      <p:ext uri="{BB962C8B-B14F-4D97-AF65-F5344CB8AC3E}">
        <p14:creationId xmlns:p14="http://schemas.microsoft.com/office/powerpoint/2010/main" val="823356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8F23557F-F7A2-CFC8-F089-F9981710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>
            <a:extLst>
              <a:ext uri="{FF2B5EF4-FFF2-40B4-BE49-F238E27FC236}">
                <a16:creationId xmlns:a16="http://schemas.microsoft.com/office/drawing/2014/main" id="{C7AAB4E7-5C9F-0C6C-D5B9-32E9560B551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>
            <a:extLst>
              <a:ext uri="{FF2B5EF4-FFF2-40B4-BE49-F238E27FC236}">
                <a16:creationId xmlns:a16="http://schemas.microsoft.com/office/drawing/2014/main" id="{B73DE27B-2873-AB7D-27ED-CE5AE1E1CEFB}"/>
              </a:ext>
            </a:extLst>
          </p:cNvPr>
          <p:cNvSpPr txBox="1"/>
          <p:nvPr/>
        </p:nvSpPr>
        <p:spPr>
          <a:xfrm>
            <a:off x="993969" y="164059"/>
            <a:ext cx="8358188" cy="55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SWIN-UNET(transformer)ARCHITECTURE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>
            <a:extLst>
              <a:ext uri="{FF2B5EF4-FFF2-40B4-BE49-F238E27FC236}">
                <a16:creationId xmlns:a16="http://schemas.microsoft.com/office/drawing/2014/main" id="{3E4B9DF8-6806-0F6C-D4F0-C86E9DED6E6A}"/>
              </a:ext>
            </a:extLst>
          </p:cNvPr>
          <p:cNvSpPr/>
          <p:nvPr/>
        </p:nvSpPr>
        <p:spPr>
          <a:xfrm>
            <a:off x="1337072" y="1279624"/>
            <a:ext cx="7082433" cy="336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F905D-C39E-6188-2313-76D221BB8E88}"/>
              </a:ext>
            </a:extLst>
          </p:cNvPr>
          <p:cNvSpPr txBox="1"/>
          <p:nvPr/>
        </p:nvSpPr>
        <p:spPr>
          <a:xfrm>
            <a:off x="724495" y="625706"/>
            <a:ext cx="5170783" cy="455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Takes MRI brain images as input.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Partition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Divides the image into small non-overlapping patches.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Embedding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image patches into feature vectors.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Encoder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Learns local and global contextual features using shifted-window attention.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 Connections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Transfers encoder features to the decoder for accurate localization.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Decoder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Upsamples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extracted features to reconstruct the segmentation map. </a:t>
            </a: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Produces the final segmented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F0C2A-9DE7-6D34-41A3-54C2CF080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278" y="810322"/>
            <a:ext cx="3136804" cy="422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1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1445096" y="131174"/>
            <a:ext cx="7291336" cy="84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 WITH PLANNED INNOVATION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988741" y="1105311"/>
            <a:ext cx="8155259" cy="360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MRI brain images from the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BraTS2020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</a:t>
            </a:r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both models using segmentation performance metrics.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U-Net++ and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 Score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CNN–Transformer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by integrating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the </a:t>
            </a:r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BraTS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to improve the model's robustness and generalization.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local and global feature extraction through hybrid feature fusion.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accuracy, Dice Score, and boundary detection. </a:t>
            </a:r>
          </a:p>
          <a:p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1061357" y="502881"/>
            <a:ext cx="729133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OF THE PROJECT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061357" y="1397050"/>
            <a:ext cx="8082642" cy="388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BraTS2020 Dataset Collection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multimodal brain MRI images and corresponding segmentation masks from the BraTS2020 dataset.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 Preprocessing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image normalization, resizing, and label preprocessing to prepare data for model training.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 Feature Extraction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multi-scale local features using the nested skip connections of the U-Net++ architecture.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Extraction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global contextual information from MRI images using the Swin Transformer-based encoder. 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segmentation performance using Dice Score, Accuracy, Training Loss, and Validation Loss.</a:t>
            </a:r>
          </a:p>
          <a:p>
            <a:pPr marL="393700" lvl="0" indent="-387350">
              <a:lnSpc>
                <a:spcPct val="150000"/>
              </a:lnSpc>
              <a:buSzPts val="1700"/>
              <a:buFont typeface="Arial"/>
              <a:buAutoNum type="arabicPeriod"/>
            </a:pPr>
            <a:endParaRPr lang="en-IN" sz="150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1232342" y="364942"/>
            <a:ext cx="7291336" cy="55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SWIN-UNET -    IMPLEMENTATION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E8CEB-46FF-9F80-588F-7D99550C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555" y="1286254"/>
            <a:ext cx="8021444" cy="3354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90BBCF5B-0AD7-C016-EC5E-64E22E2D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>
            <a:extLst>
              <a:ext uri="{FF2B5EF4-FFF2-40B4-BE49-F238E27FC236}">
                <a16:creationId xmlns:a16="http://schemas.microsoft.com/office/drawing/2014/main" id="{4698BD45-0B94-C67D-5401-16BEB728A13B}"/>
              </a:ext>
            </a:extLst>
          </p:cNvPr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9">
            <a:extLst>
              <a:ext uri="{FF2B5EF4-FFF2-40B4-BE49-F238E27FC236}">
                <a16:creationId xmlns:a16="http://schemas.microsoft.com/office/drawing/2014/main" id="{5E88F483-87FE-08F3-5A39-656C34699F83}"/>
              </a:ext>
            </a:extLst>
          </p:cNvPr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>
            <a:extLst>
              <a:ext uri="{FF2B5EF4-FFF2-40B4-BE49-F238E27FC236}">
                <a16:creationId xmlns:a16="http://schemas.microsoft.com/office/drawing/2014/main" id="{2766B665-82C7-0074-D7A3-C8B6BCAA460D}"/>
              </a:ext>
            </a:extLst>
          </p:cNvPr>
          <p:cNvSpPr txBox="1"/>
          <p:nvPr/>
        </p:nvSpPr>
        <p:spPr>
          <a:xfrm>
            <a:off x="1232342" y="364942"/>
            <a:ext cx="7291336" cy="55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latin typeface="Times New Roman"/>
                <a:ea typeface="Times New Roman"/>
                <a:cs typeface="Times New Roman"/>
                <a:sym typeface="Times New Roman"/>
              </a:rPr>
              <a:t>UNET++</a:t>
            </a:r>
            <a:r>
              <a:rPr lang="en" sz="3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   IMPLEMENTATION</a:t>
            </a:r>
            <a:endParaRPr sz="3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D0A24-6D3E-08C0-B2E2-442D1CF01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480" y="1107686"/>
            <a:ext cx="7530395" cy="39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5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1281055" y="640156"/>
            <a:ext cx="7121769" cy="49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Results</a:t>
            </a:r>
            <a:endParaRPr sz="17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62378B-9B88-8A47-325C-F0EFE8313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11876"/>
              </p:ext>
            </p:extLst>
          </p:nvPr>
        </p:nvGraphicFramePr>
        <p:xfrm>
          <a:off x="1984917" y="1327769"/>
          <a:ext cx="6096000" cy="31140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737068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65070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651183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U-Net++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SwinUNETR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78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BraTS2020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BraTS2020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629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295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295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04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74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28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118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118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34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83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0.95</a:t>
                      </a:r>
                      <a:r>
                        <a:rPr lang="en-IN"/>
                        <a:t> (or your actual 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0.59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169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Segmentation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Successful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Successful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8663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-1" y="-604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>
            <a:off x="1061357" y="502881"/>
            <a:ext cx="729133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31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1234067" y="1459111"/>
            <a:ext cx="7553093" cy="284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292100" lvl="0" indent="-285750">
              <a:lnSpc>
                <a:spcPct val="200000"/>
              </a:lnSpc>
              <a:buSzPts val="1700"/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CNN–Transformer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by integrating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U-Net++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SwinUNETR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92100" lvl="0" indent="-285750">
              <a:lnSpc>
                <a:spcPct val="200000"/>
              </a:lnSpc>
              <a:buSzPts val="1700"/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hybrid model using the </a:t>
            </a: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BraTS2025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improved robustness. </a:t>
            </a:r>
          </a:p>
          <a:p>
            <a:pPr marL="292100" lvl="0" indent="-285750">
              <a:lnSpc>
                <a:spcPct val="200000"/>
              </a:lnSpc>
              <a:buSzPts val="1700"/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segmentation accuracy, Dice Score, and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boundary detection. </a:t>
            </a:r>
          </a:p>
          <a:p>
            <a:pPr marL="292100" lvl="0" indent="-285750">
              <a:lnSpc>
                <a:spcPct val="200000"/>
              </a:lnSpc>
              <a:buSzPts val="1700"/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model for faster training and lower computational cost. </a:t>
            </a:r>
          </a:p>
          <a:p>
            <a:pPr marL="292100" lvl="0" indent="-285750">
              <a:lnSpc>
                <a:spcPct val="200000"/>
              </a:lnSpc>
              <a:buSzPts val="1700"/>
              <a:buFont typeface="Wingdings" panose="05000000000000000000" pitchFamily="2" charset="2"/>
              <a:buChar char="v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model as an AI-assisted tool for real-time clinical brain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segmentation.</a:t>
            </a:r>
            <a:endParaRPr sz="1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/>
          <p:nvPr/>
        </p:nvSpPr>
        <p:spPr>
          <a:xfrm>
            <a:off x="-1" y="-19944"/>
            <a:ext cx="9144000" cy="5138928"/>
          </a:xfrm>
          <a:custGeom>
            <a:avLst/>
            <a:gdLst/>
            <a:ahLst/>
            <a:cxnLst/>
            <a:rect l="l" t="t" r="r" b="b"/>
            <a:pathLst>
              <a:path w="9753600" h="7315200" extrusionOk="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8575" tIns="39275" rIns="78575" bIns="39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2972347" y="2115255"/>
            <a:ext cx="3885652" cy="54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575" tIns="39275" rIns="78575" bIns="39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Office PowerPoint</Application>
  <PresentationFormat>On-screen Show (16:9)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Noto Sans Symbols</vt:lpstr>
      <vt:lpstr>Times New Roman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Kishore</dc:creator>
  <cp:lastModifiedBy>Kishore Sankar</cp:lastModifiedBy>
  <cp:revision>1</cp:revision>
  <dcterms:modified xsi:type="dcterms:W3CDTF">2026-07-19T18:31:28Z</dcterms:modified>
</cp:coreProperties>
</file>